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68" r:id="rId4"/>
    <p:sldId id="265" r:id="rId5"/>
    <p:sldId id="264" r:id="rId6"/>
    <p:sldId id="266" r:id="rId7"/>
    <p:sldId id="257" r:id="rId8"/>
    <p:sldId id="258" r:id="rId9"/>
    <p:sldId id="259" r:id="rId10"/>
    <p:sldId id="260" r:id="rId11"/>
    <p:sldId id="269" r:id="rId12"/>
    <p:sldId id="261" r:id="rId13"/>
    <p:sldId id="262" r:id="rId14"/>
    <p:sldId id="26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03AFD8-DE98-4152-A93F-D707428427CB}" type="datetimeFigureOut">
              <a:rPr lang="en-IN" smtClean="0"/>
              <a:t>15-05-2022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523777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03AFD8-DE98-4152-A93F-D707428427CB}" type="datetimeFigureOut">
              <a:rPr lang="en-IN" smtClean="0"/>
              <a:t>15-05-2022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2482970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03AFD8-DE98-4152-A93F-D707428427CB}" type="datetimeFigureOut">
              <a:rPr lang="en-IN" smtClean="0"/>
              <a:t>15-05-2022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3415683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03AFD8-DE98-4152-A93F-D707428427CB}" type="datetimeFigureOut">
              <a:rPr lang="en-IN" smtClean="0"/>
              <a:t>15-05-2022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2318244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03AFD8-DE98-4152-A93F-D707428427CB}" type="datetimeFigureOut">
              <a:rPr lang="en-IN" smtClean="0"/>
              <a:t>15-05-2022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224579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03AFD8-DE98-4152-A93F-D707428427CB}" type="datetimeFigureOut">
              <a:rPr lang="en-IN" smtClean="0"/>
              <a:t>15-05-2022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3977393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03AFD8-DE98-4152-A93F-D707428427CB}" type="datetimeFigureOut">
              <a:rPr lang="en-IN" smtClean="0"/>
              <a:t>15-05-2022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1715897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03AFD8-DE98-4152-A93F-D707428427CB}" type="datetimeFigureOut">
              <a:rPr lang="en-IN" smtClean="0"/>
              <a:t>15-05-2022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1452350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03AFD8-DE98-4152-A93F-D707428427CB}" type="datetimeFigureOut">
              <a:rPr lang="en-IN" smtClean="0"/>
              <a:t>15-05-2022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3122976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03AFD8-DE98-4152-A93F-D707428427CB}" type="datetimeFigureOut">
              <a:rPr lang="en-IN" smtClean="0"/>
              <a:t>15-05-2022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1556468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03AFD8-DE98-4152-A93F-D707428427CB}" type="datetimeFigureOut">
              <a:rPr lang="en-IN" smtClean="0"/>
              <a:t>15-05-2022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25FA54-8B86-433E-B033-205B64B09502}" type="slidenum">
              <a:rPr lang="en-IN" smtClean="0"/>
              <a:t>‹#›</a:t>
            </a:fld>
            <a:endParaRPr lang="en-IN"/>
          </a:p>
        </p:txBody>
      </p:sp>
    </p:spTree>
    <p:extLst>
      <p:ext uri="{BB962C8B-B14F-4D97-AF65-F5344CB8AC3E}">
        <p14:creationId xmlns:p14="http://schemas.microsoft.com/office/powerpoint/2010/main" val="44149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03AFD8-DE98-4152-A93F-D707428427CB}" type="datetimeFigureOut">
              <a:rPr lang="en-IN" smtClean="0"/>
              <a:t>15-05-2022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25FA54-8B86-433E-B033-205B64B09502}" type="slidenum">
              <a:rPr lang="en-IN" smtClean="0"/>
              <a:t>‹#›</a:t>
            </a:fld>
            <a:endParaRPr lang="en-IN"/>
          </a:p>
        </p:txBody>
      </p:sp>
    </p:spTree>
    <p:extLst>
      <p:ext uri="{BB962C8B-B14F-4D97-AF65-F5344CB8AC3E}">
        <p14:creationId xmlns:p14="http://schemas.microsoft.com/office/powerpoint/2010/main" val="158419152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D2C46-8984-5539-A274-A8233434687F}"/>
              </a:ext>
            </a:extLst>
          </p:cNvPr>
          <p:cNvSpPr>
            <a:spLocks noGrp="1"/>
          </p:cNvSpPr>
          <p:nvPr>
            <p:ph type="ctrTitle"/>
          </p:nvPr>
        </p:nvSpPr>
        <p:spPr>
          <a:xfrm>
            <a:off x="1524000" y="1967219"/>
            <a:ext cx="9144000" cy="2387600"/>
          </a:xfrm>
        </p:spPr>
        <p:txBody>
          <a:bodyPr>
            <a:normAutofit/>
          </a:bodyPr>
          <a:lstStyle/>
          <a:p>
            <a:r>
              <a:rPr lang="en-IN" sz="4800" b="1" dirty="0">
                <a:latin typeface="Times New Roman" panose="02020603050405020304" pitchFamily="18" charset="0"/>
                <a:cs typeface="Times New Roman" panose="02020603050405020304" pitchFamily="18" charset="0"/>
              </a:rPr>
              <a:t>Cell Imaging Using Lateral Shearing Interferometer leading to cell characterisation</a:t>
            </a:r>
          </a:p>
        </p:txBody>
      </p:sp>
      <p:sp>
        <p:nvSpPr>
          <p:cNvPr id="3" name="Subtitle 2">
            <a:extLst>
              <a:ext uri="{FF2B5EF4-FFF2-40B4-BE49-F238E27FC236}">
                <a16:creationId xmlns:a16="http://schemas.microsoft.com/office/drawing/2014/main" id="{911E4B2A-820C-035A-B036-8B58B4594BC0}"/>
              </a:ext>
            </a:extLst>
          </p:cNvPr>
          <p:cNvSpPr>
            <a:spLocks noGrp="1"/>
          </p:cNvSpPr>
          <p:nvPr>
            <p:ph type="subTitle" idx="1"/>
          </p:nvPr>
        </p:nvSpPr>
        <p:spPr>
          <a:xfrm>
            <a:off x="8934274" y="4890781"/>
            <a:ext cx="1733725" cy="646331"/>
          </a:xfrm>
        </p:spPr>
        <p:txBody>
          <a:bodyPr>
            <a:normAutofit/>
          </a:bodyPr>
          <a:lstStyle/>
          <a:p>
            <a:pPr algn="r"/>
            <a:r>
              <a:rPr lang="en-IN" dirty="0"/>
              <a:t>-Daksh Patel</a:t>
            </a:r>
          </a:p>
        </p:txBody>
      </p:sp>
      <p:pic>
        <p:nvPicPr>
          <p:cNvPr id="6" name="Picture 5">
            <a:extLst>
              <a:ext uri="{FF2B5EF4-FFF2-40B4-BE49-F238E27FC236}">
                <a16:creationId xmlns:a16="http://schemas.microsoft.com/office/drawing/2014/main" id="{9F353C42-73A8-FC00-4360-509654EB6CB4}"/>
              </a:ext>
            </a:extLst>
          </p:cNvPr>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5303043" y="376508"/>
            <a:ext cx="1585913" cy="1590711"/>
          </a:xfrm>
          <a:prstGeom prst="rect">
            <a:avLst/>
          </a:prstGeom>
        </p:spPr>
      </p:pic>
    </p:spTree>
    <p:extLst>
      <p:ext uri="{BB962C8B-B14F-4D97-AF65-F5344CB8AC3E}">
        <p14:creationId xmlns:p14="http://schemas.microsoft.com/office/powerpoint/2010/main" val="3576893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391E-C21D-6D6B-D4DF-C6DE17586522}"/>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HOLOGRAPHY</a:t>
            </a:r>
          </a:p>
        </p:txBody>
      </p:sp>
      <p:sp>
        <p:nvSpPr>
          <p:cNvPr id="3" name="Content Placeholder 2">
            <a:extLst>
              <a:ext uri="{FF2B5EF4-FFF2-40B4-BE49-F238E27FC236}">
                <a16:creationId xmlns:a16="http://schemas.microsoft.com/office/drawing/2014/main" id="{A6F5E619-B997-AA86-E787-4157D92972E6}"/>
              </a:ext>
            </a:extLst>
          </p:cNvPr>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When a light wave encounters an object or an obstacle, it undergoes diffraction. This diffracted wave contains the intensity information as well as the phase information. In conventional photography, we are only able to plot the intensity, whereas the depth information which is carried by the phase distribution is not captured. </a:t>
            </a:r>
          </a:p>
          <a:p>
            <a:pPr algn="just"/>
            <a:r>
              <a:rPr lang="en-US" sz="1800" dirty="0">
                <a:latin typeface="Times New Roman" panose="02020603050405020304" pitchFamily="18" charset="0"/>
                <a:cs typeface="Times New Roman" panose="02020603050405020304" pitchFamily="18" charset="0"/>
              </a:rPr>
              <a:t>Therefore, in order to calculate this change in phase of light wave due to the object, we need a reference wave of light and the interference pattern between these two waves (i.e., The reference wave and the object wave)  will provide us with the phase information as well as the intensity. The change in phase by the object is given by the modulation of fringes. This interference pattern is recorded with the help of a photographic plates, CCDs and CMOS. </a:t>
            </a:r>
          </a:p>
          <a:p>
            <a:pPr algn="just"/>
            <a:r>
              <a:rPr lang="en-US" sz="1800" dirty="0">
                <a:latin typeface="Times New Roman" panose="02020603050405020304" pitchFamily="18" charset="0"/>
                <a:cs typeface="Times New Roman" panose="02020603050405020304" pitchFamily="18" charset="0"/>
              </a:rPr>
              <a:t>This recorded pattern of the interference fringes between the reference wave and the scattered wave from the object is known as hologram. Later, this hologram is reconstructed by illuminating the hologram with the help of the same reference beam. </a:t>
            </a:r>
          </a:p>
          <a:p>
            <a:pPr algn="just"/>
            <a:r>
              <a:rPr lang="en-US" sz="1800" dirty="0">
                <a:latin typeface="Times New Roman" panose="02020603050405020304" pitchFamily="18" charset="0"/>
                <a:cs typeface="Times New Roman" panose="02020603050405020304" pitchFamily="18" charset="0"/>
              </a:rPr>
              <a:t>This process of recording a hologram and then reconstructing it is known as holography. It can give us a 3-D image as compared to the 2-D image which is a limitation of conventional photography. </a:t>
            </a:r>
          </a:p>
        </p:txBody>
      </p:sp>
    </p:spTree>
    <p:extLst>
      <p:ext uri="{BB962C8B-B14F-4D97-AF65-F5344CB8AC3E}">
        <p14:creationId xmlns:p14="http://schemas.microsoft.com/office/powerpoint/2010/main" val="2138092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08B6-6FBF-3BF3-6874-DF06218AEF0E}"/>
              </a:ext>
            </a:extLst>
          </p:cNvPr>
          <p:cNvSpPr>
            <a:spLocks noGrp="1"/>
          </p:cNvSpPr>
          <p:nvPr>
            <p:ph type="title"/>
          </p:nvPr>
        </p:nvSpPr>
        <p:spPr/>
        <p:txBody>
          <a:bodyPr/>
          <a:lstStyle/>
          <a:p>
            <a:pPr algn="ctr"/>
            <a:r>
              <a:rPr lang="en-IN" b="1" dirty="0"/>
              <a:t>Why did we use holography?</a:t>
            </a:r>
          </a:p>
        </p:txBody>
      </p:sp>
      <p:sp>
        <p:nvSpPr>
          <p:cNvPr id="3" name="Content Placeholder 2">
            <a:extLst>
              <a:ext uri="{FF2B5EF4-FFF2-40B4-BE49-F238E27FC236}">
                <a16:creationId xmlns:a16="http://schemas.microsoft.com/office/drawing/2014/main" id="{1006D03E-1156-CEB5-7FA7-D4D8ECDD9DB6}"/>
              </a:ext>
            </a:extLst>
          </p:cNvPr>
          <p:cNvSpPr>
            <a:spLocks noGrp="1"/>
          </p:cNvSpPr>
          <p:nvPr>
            <p:ph idx="1"/>
          </p:nvPr>
        </p:nvSpPr>
        <p:spPr/>
        <p:txBody>
          <a:bodyPr>
            <a:normAutofit/>
          </a:bodyPr>
          <a:lstStyle/>
          <a:p>
            <a:r>
              <a:rPr lang="en-IN" sz="2000" dirty="0"/>
              <a:t>As our main aim was to capture and analyse the biological samples such as human cells, we needed the samples to preserve their original nature. </a:t>
            </a:r>
          </a:p>
          <a:p>
            <a:r>
              <a:rPr lang="en-IN" sz="2000" dirty="0"/>
              <a:t>This was not preserved when we used conventional light microscopy because these samples are sometimes transparent in nature and hence to get a proper picture, chemical dyes are used to stain the sample which can affect the original nature of the sample.</a:t>
            </a:r>
          </a:p>
          <a:p>
            <a:r>
              <a:rPr lang="en-IN" sz="2000" dirty="0"/>
              <a:t>Whereas in holography, we capture the intensity as well as the phase difference which is a function of refractive index. And therefore, there is no need of staining the samples and hence, we can get pure and original data out of our biological samples. </a:t>
            </a:r>
          </a:p>
        </p:txBody>
      </p:sp>
    </p:spTree>
    <p:extLst>
      <p:ext uri="{BB962C8B-B14F-4D97-AF65-F5344CB8AC3E}">
        <p14:creationId xmlns:p14="http://schemas.microsoft.com/office/powerpoint/2010/main" val="2823506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1941-7EE3-6B5F-8F21-35809DBA3956}"/>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Lateral Shearing Interferometer (LSI)</a:t>
            </a:r>
          </a:p>
        </p:txBody>
      </p:sp>
      <p:sp>
        <p:nvSpPr>
          <p:cNvPr id="3" name="Content Placeholder 2">
            <a:extLst>
              <a:ext uri="{FF2B5EF4-FFF2-40B4-BE49-F238E27FC236}">
                <a16:creationId xmlns:a16="http://schemas.microsoft.com/office/drawing/2014/main" id="{772D4517-18C9-4C2C-7D2F-16DD54DBCE15}"/>
              </a:ext>
            </a:extLst>
          </p:cNvPr>
          <p:cNvSpPr>
            <a:spLocks noGrp="1"/>
          </p:cNvSpPr>
          <p:nvPr>
            <p:ph sz="half" idx="2"/>
          </p:nvPr>
        </p:nvSpPr>
        <p:spPr>
          <a:xfrm>
            <a:off x="836612" y="1845578"/>
            <a:ext cx="5157787" cy="4360863"/>
          </a:xfrm>
        </p:spPr>
        <p:txBody>
          <a:bodyPr>
            <a:normAutofit fontScale="55000" lnSpcReduction="20000"/>
          </a:bodyPr>
          <a:lstStyle/>
          <a:p>
            <a:pPr algn="just">
              <a:lnSpc>
                <a:spcPct val="120000"/>
              </a:lnSpc>
            </a:pPr>
            <a:r>
              <a:rPr lang="en-IN" dirty="0">
                <a:latin typeface="Times New Roman" panose="02020603050405020304" pitchFamily="18" charset="0"/>
                <a:cs typeface="Times New Roman" panose="02020603050405020304" pitchFamily="18" charset="0"/>
              </a:rPr>
              <a:t>A Lateral Shearing Interferometer (LSI) is a simple device used to observe interference. </a:t>
            </a:r>
          </a:p>
          <a:p>
            <a:pPr algn="just">
              <a:lnSpc>
                <a:spcPct val="120000"/>
              </a:lnSpc>
            </a:pPr>
            <a:r>
              <a:rPr lang="en-IN" dirty="0">
                <a:latin typeface="Times New Roman" panose="02020603050405020304" pitchFamily="18" charset="0"/>
                <a:cs typeface="Times New Roman" panose="02020603050405020304" pitchFamily="18" charset="0"/>
              </a:rPr>
              <a:t>It consists of a shearing glass plate kept at a 45 degree angle from the plane of incident beam. When a laser beam falls onto the surface of this mirror, the beam is reflected two times, i.e., from the front surface of the glass plate as well as from the back surface of the glass plate. </a:t>
            </a:r>
          </a:p>
          <a:p>
            <a:pPr algn="just">
              <a:lnSpc>
                <a:spcPct val="120000"/>
              </a:lnSpc>
            </a:pPr>
            <a:r>
              <a:rPr lang="en-IN" dirty="0">
                <a:latin typeface="Times New Roman" panose="02020603050405020304" pitchFamily="18" charset="0"/>
                <a:cs typeface="Times New Roman" panose="02020603050405020304" pitchFamily="18" charset="0"/>
              </a:rPr>
              <a:t>Therefore, the two beams are laterally separated from each other. The term shear represents the separation of the laser beam into two parts. Hence, the name Lateral Shearing Interferometer. </a:t>
            </a:r>
          </a:p>
          <a:p>
            <a:pPr algn="just">
              <a:lnSpc>
                <a:spcPct val="120000"/>
              </a:lnSpc>
            </a:pPr>
            <a:r>
              <a:rPr lang="en-IN" dirty="0">
                <a:latin typeface="Times New Roman" panose="02020603050405020304" pitchFamily="18" charset="0"/>
                <a:cs typeface="Times New Roman" panose="02020603050405020304" pitchFamily="18" charset="0"/>
              </a:rPr>
              <a:t>The spacing between the front and the back of the glass plate is of the order of the coherence length of the laser beam and hence the condition for interference is satisfied. </a:t>
            </a:r>
          </a:p>
        </p:txBody>
      </p:sp>
      <p:sp>
        <p:nvSpPr>
          <p:cNvPr id="7" name="Content Placeholder 6">
            <a:extLst>
              <a:ext uri="{FF2B5EF4-FFF2-40B4-BE49-F238E27FC236}">
                <a16:creationId xmlns:a16="http://schemas.microsoft.com/office/drawing/2014/main" id="{D9126A6D-AEE5-32F5-0115-222627A7E439}"/>
              </a:ext>
            </a:extLst>
          </p:cNvPr>
          <p:cNvSpPr>
            <a:spLocks noGrp="1"/>
          </p:cNvSpPr>
          <p:nvPr>
            <p:ph sz="quarter" idx="4"/>
          </p:nvPr>
        </p:nvSpPr>
        <p:spPr>
          <a:xfrm>
            <a:off x="6172200" y="1828800"/>
            <a:ext cx="5183188" cy="4360863"/>
          </a:xfrm>
          <a:ln w="28575">
            <a:solidFill>
              <a:schemeClr val="tx1"/>
            </a:solidFill>
          </a:ln>
        </p:spPr>
        <p:txBody>
          <a:bodyPr>
            <a:normAutofit fontScale="55000" lnSpcReduction="20000"/>
          </a:bodyPr>
          <a:lstStyle/>
          <a:p>
            <a:pPr marL="0" indent="0" algn="ctr">
              <a:buNone/>
            </a:pPr>
            <a:endParaRPr lang="en-IN" sz="3600" b="1" dirty="0">
              <a:latin typeface="Times New Roman" panose="02020603050405020304" pitchFamily="18" charset="0"/>
              <a:cs typeface="Times New Roman" panose="02020603050405020304" pitchFamily="18" charset="0"/>
            </a:endParaRPr>
          </a:p>
          <a:p>
            <a:pPr marL="0" indent="0" algn="ctr">
              <a:buNone/>
            </a:pPr>
            <a:r>
              <a:rPr lang="en-IN" sz="3600" b="1" dirty="0">
                <a:latin typeface="Times New Roman" panose="02020603050405020304" pitchFamily="18" charset="0"/>
                <a:cs typeface="Times New Roman" panose="02020603050405020304" pitchFamily="18" charset="0"/>
              </a:rPr>
              <a:t>Why Lateral Shearing Interferometer(LSI)?</a:t>
            </a:r>
            <a:endParaRPr lang="en-IN" sz="3600" dirty="0"/>
          </a:p>
          <a:p>
            <a:pPr marL="0" indent="0" algn="just">
              <a:buNone/>
            </a:pP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20000"/>
              </a:lnSpc>
            </a:pPr>
            <a:r>
              <a:rPr lang="en-US" dirty="0">
                <a:latin typeface="Times New Roman" panose="02020603050405020304" pitchFamily="18" charset="0"/>
                <a:ea typeface="Calibri" panose="020F0502020204030204" pitchFamily="34" charset="0"/>
                <a:cs typeface="Times New Roman" panose="02020603050405020304" pitchFamily="18" charset="0"/>
              </a:rPr>
              <a:t>B</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oth the object and the reference beams travel along the same path and encounter the same set of optical elements.</a:t>
            </a:r>
          </a:p>
          <a:p>
            <a:pPr algn="just">
              <a:lnSpc>
                <a:spcPct val="120000"/>
              </a:lnSpc>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leads to high temporal stability compared to the digital holographic microscope using othe</a:t>
            </a:r>
            <a:r>
              <a:rPr lang="en-US" dirty="0">
                <a:latin typeface="Times New Roman" panose="02020603050405020304" pitchFamily="18" charset="0"/>
                <a:ea typeface="Calibri" panose="020F0502020204030204" pitchFamily="34" charset="0"/>
                <a:cs typeface="Times New Roman" panose="02020603050405020304" pitchFamily="18" charset="0"/>
              </a:rPr>
              <a:t>r interferometry setups.</a:t>
            </a:r>
          </a:p>
          <a:p>
            <a:pPr algn="just">
              <a:lnSpc>
                <a:spcPct val="120000"/>
              </a:lnSpc>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setup provides sub-nanometer level temporal stability over a period of several minutes, making it ideal for measurement of thickness fluctuations of few nanometers to few tens of nanometers, which normally happens in the case of red blood cells.</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4657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3724B-4F90-7627-B859-B61A54958C7A}"/>
              </a:ext>
            </a:extLst>
          </p:cNvPr>
          <p:cNvSpPr>
            <a:spLocks noGrp="1"/>
          </p:cNvSpPr>
          <p:nvPr>
            <p:ph type="title"/>
          </p:nvPr>
        </p:nvSpPr>
        <p:spPr/>
        <p:txBody>
          <a:bodyPr>
            <a:normAutofit/>
          </a:bodyPr>
          <a:lstStyle/>
          <a:p>
            <a:pPr algn="ctr"/>
            <a:r>
              <a:rPr lang="en-IN" sz="5400" b="1" dirty="0">
                <a:latin typeface="Times New Roman" panose="02020603050405020304" pitchFamily="18" charset="0"/>
                <a:cs typeface="Times New Roman" panose="02020603050405020304" pitchFamily="18" charset="0"/>
              </a:rPr>
              <a:t>Experimental Setup</a:t>
            </a:r>
          </a:p>
        </p:txBody>
      </p:sp>
      <p:sp>
        <p:nvSpPr>
          <p:cNvPr id="3" name="Content Placeholder 2">
            <a:extLst>
              <a:ext uri="{FF2B5EF4-FFF2-40B4-BE49-F238E27FC236}">
                <a16:creationId xmlns:a16="http://schemas.microsoft.com/office/drawing/2014/main" id="{332520D8-02D3-C1A6-38CD-D077254A7E9A}"/>
              </a:ext>
            </a:extLst>
          </p:cNvPr>
          <p:cNvSpPr>
            <a:spLocks noGrp="1"/>
          </p:cNvSpPr>
          <p:nvPr>
            <p:ph idx="1"/>
          </p:nvPr>
        </p:nvSpPr>
        <p:spPr/>
        <p:txBody>
          <a:bodyPr/>
          <a:lstStyle/>
          <a:p>
            <a:pPr marL="0" indent="0">
              <a:buNone/>
            </a:pPr>
            <a:r>
              <a:rPr lang="en-IN" dirty="0"/>
              <a:t> </a:t>
            </a:r>
          </a:p>
        </p:txBody>
      </p:sp>
      <p:pic>
        <p:nvPicPr>
          <p:cNvPr id="5" name="Picture 4">
            <a:extLst>
              <a:ext uri="{FF2B5EF4-FFF2-40B4-BE49-F238E27FC236}">
                <a16:creationId xmlns:a16="http://schemas.microsoft.com/office/drawing/2014/main" id="{3CA75C24-4322-E2B6-61D0-03268DD50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0353" y="1605276"/>
            <a:ext cx="5153447" cy="4792036"/>
          </a:xfrm>
          <a:prstGeom prst="rect">
            <a:avLst/>
          </a:prstGeom>
          <a:ln>
            <a:noFill/>
          </a:ln>
          <a:effectLst>
            <a:softEdge rad="112500"/>
          </a:effectLst>
        </p:spPr>
      </p:pic>
      <p:pic>
        <p:nvPicPr>
          <p:cNvPr id="6" name="Picture 5">
            <a:extLst>
              <a:ext uri="{FF2B5EF4-FFF2-40B4-BE49-F238E27FC236}">
                <a16:creationId xmlns:a16="http://schemas.microsoft.com/office/drawing/2014/main" id="{DA8770DC-D6FE-158D-9509-A72A1915E6C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5781" y="1605276"/>
            <a:ext cx="2806225" cy="4792036"/>
          </a:xfrm>
          <a:prstGeom prst="rect">
            <a:avLst/>
          </a:prstGeom>
          <a:ln w="228600" cap="sq" cmpd="thickThin">
            <a:solidFill>
              <a:srgbClr val="000000"/>
            </a:solidFill>
            <a:prstDash val="solid"/>
            <a:miter lim="800000"/>
          </a:ln>
          <a:effectLst>
            <a:innerShdw blurRad="76200">
              <a:srgbClr val="000000"/>
            </a:innerShdw>
          </a:effectLst>
        </p:spPr>
      </p:pic>
      <p:cxnSp>
        <p:nvCxnSpPr>
          <p:cNvPr id="7" name="Straight Arrow Connector 6">
            <a:extLst>
              <a:ext uri="{FF2B5EF4-FFF2-40B4-BE49-F238E27FC236}">
                <a16:creationId xmlns:a16="http://schemas.microsoft.com/office/drawing/2014/main" id="{8BB54E2A-8693-0D8A-E3A3-FDBD0E35871B}"/>
              </a:ext>
            </a:extLst>
          </p:cNvPr>
          <p:cNvCxnSpPr>
            <a:cxnSpLocks/>
          </p:cNvCxnSpPr>
          <p:nvPr/>
        </p:nvCxnSpPr>
        <p:spPr>
          <a:xfrm flipH="1">
            <a:off x="5939406" y="5847127"/>
            <a:ext cx="9563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7E99FA7-025C-0A8E-A2D8-61A34C63CE8D}"/>
              </a:ext>
            </a:extLst>
          </p:cNvPr>
          <p:cNvCxnSpPr>
            <a:cxnSpLocks/>
          </p:cNvCxnSpPr>
          <p:nvPr/>
        </p:nvCxnSpPr>
        <p:spPr>
          <a:xfrm flipH="1">
            <a:off x="5939406" y="2291592"/>
            <a:ext cx="270265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A580F10-ED5C-6A09-17A3-7A2C5903D70D}"/>
              </a:ext>
            </a:extLst>
          </p:cNvPr>
          <p:cNvCxnSpPr>
            <a:cxnSpLocks/>
          </p:cNvCxnSpPr>
          <p:nvPr/>
        </p:nvCxnSpPr>
        <p:spPr>
          <a:xfrm flipV="1">
            <a:off x="9733420" y="1317072"/>
            <a:ext cx="0" cy="7815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5AC5839-EDE9-8DF3-3D46-5353B6A05D04}"/>
              </a:ext>
            </a:extLst>
          </p:cNvPr>
          <p:cNvCxnSpPr>
            <a:cxnSpLocks/>
          </p:cNvCxnSpPr>
          <p:nvPr/>
        </p:nvCxnSpPr>
        <p:spPr>
          <a:xfrm flipH="1">
            <a:off x="5939406" y="4001294"/>
            <a:ext cx="276976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1CDABC0-A847-A2A3-74B2-6024D274C890}"/>
              </a:ext>
            </a:extLst>
          </p:cNvPr>
          <p:cNvSpPr txBox="1"/>
          <p:nvPr/>
        </p:nvSpPr>
        <p:spPr>
          <a:xfrm>
            <a:off x="4442953" y="1971413"/>
            <a:ext cx="1496453" cy="646331"/>
          </a:xfrm>
          <a:prstGeom prst="rect">
            <a:avLst/>
          </a:prstGeom>
          <a:noFill/>
        </p:spPr>
        <p:txBody>
          <a:bodyPr wrap="square" rtlCol="0">
            <a:spAutoFit/>
          </a:bodyPr>
          <a:lstStyle/>
          <a:p>
            <a:r>
              <a:rPr lang="en-IN" dirty="0"/>
              <a:t>Shearing glass plate</a:t>
            </a:r>
          </a:p>
        </p:txBody>
      </p:sp>
      <p:sp>
        <p:nvSpPr>
          <p:cNvPr id="20" name="TextBox 19">
            <a:extLst>
              <a:ext uri="{FF2B5EF4-FFF2-40B4-BE49-F238E27FC236}">
                <a16:creationId xmlns:a16="http://schemas.microsoft.com/office/drawing/2014/main" id="{B8015B02-97FA-98D6-6B2D-FB854B29B704}"/>
              </a:ext>
            </a:extLst>
          </p:cNvPr>
          <p:cNvSpPr txBox="1"/>
          <p:nvPr/>
        </p:nvSpPr>
        <p:spPr>
          <a:xfrm>
            <a:off x="4442952" y="3820741"/>
            <a:ext cx="1496453" cy="369332"/>
          </a:xfrm>
          <a:prstGeom prst="rect">
            <a:avLst/>
          </a:prstGeom>
          <a:noFill/>
        </p:spPr>
        <p:txBody>
          <a:bodyPr wrap="square" rtlCol="0">
            <a:spAutoFit/>
          </a:bodyPr>
          <a:lstStyle/>
          <a:p>
            <a:pPr algn="ctr"/>
            <a:r>
              <a:rPr lang="en-IN" dirty="0"/>
              <a:t>sample</a:t>
            </a:r>
          </a:p>
        </p:txBody>
      </p:sp>
      <p:sp>
        <p:nvSpPr>
          <p:cNvPr id="21" name="TextBox 20">
            <a:extLst>
              <a:ext uri="{FF2B5EF4-FFF2-40B4-BE49-F238E27FC236}">
                <a16:creationId xmlns:a16="http://schemas.microsoft.com/office/drawing/2014/main" id="{CB4BEFC1-C414-C5EB-BF79-B18AB3CA558D}"/>
              </a:ext>
            </a:extLst>
          </p:cNvPr>
          <p:cNvSpPr txBox="1"/>
          <p:nvPr/>
        </p:nvSpPr>
        <p:spPr>
          <a:xfrm>
            <a:off x="4442953" y="5662573"/>
            <a:ext cx="1496453" cy="369332"/>
          </a:xfrm>
          <a:prstGeom prst="rect">
            <a:avLst/>
          </a:prstGeom>
          <a:noFill/>
        </p:spPr>
        <p:txBody>
          <a:bodyPr wrap="square" rtlCol="0">
            <a:spAutoFit/>
          </a:bodyPr>
          <a:lstStyle/>
          <a:p>
            <a:pPr algn="ctr"/>
            <a:r>
              <a:rPr lang="en-IN" dirty="0"/>
              <a:t>Laser source</a:t>
            </a:r>
          </a:p>
        </p:txBody>
      </p:sp>
      <p:sp>
        <p:nvSpPr>
          <p:cNvPr id="22" name="TextBox 21">
            <a:extLst>
              <a:ext uri="{FF2B5EF4-FFF2-40B4-BE49-F238E27FC236}">
                <a16:creationId xmlns:a16="http://schemas.microsoft.com/office/drawing/2014/main" id="{2E97EC51-DFC9-5BA6-F11E-738A371D0E82}"/>
              </a:ext>
            </a:extLst>
          </p:cNvPr>
          <p:cNvSpPr txBox="1"/>
          <p:nvPr/>
        </p:nvSpPr>
        <p:spPr>
          <a:xfrm>
            <a:off x="9493125" y="952189"/>
            <a:ext cx="1496453" cy="369332"/>
          </a:xfrm>
          <a:prstGeom prst="rect">
            <a:avLst/>
          </a:prstGeom>
          <a:noFill/>
        </p:spPr>
        <p:txBody>
          <a:bodyPr wrap="square" rtlCol="0">
            <a:spAutoFit/>
          </a:bodyPr>
          <a:lstStyle/>
          <a:p>
            <a:r>
              <a:rPr lang="en-IN" dirty="0"/>
              <a:t>CCD</a:t>
            </a:r>
          </a:p>
        </p:txBody>
      </p:sp>
    </p:spTree>
    <p:extLst>
      <p:ext uri="{BB962C8B-B14F-4D97-AF65-F5344CB8AC3E}">
        <p14:creationId xmlns:p14="http://schemas.microsoft.com/office/powerpoint/2010/main" val="2937776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BCC48-B65B-C0AF-6EFA-84EB277CE460}"/>
              </a:ext>
            </a:extLst>
          </p:cNvPr>
          <p:cNvSpPr>
            <a:spLocks noGrp="1"/>
          </p:cNvSpPr>
          <p:nvPr>
            <p:ph type="title"/>
          </p:nvPr>
        </p:nvSpPr>
        <p:spPr>
          <a:xfrm>
            <a:off x="839788" y="457200"/>
            <a:ext cx="3932237" cy="1161875"/>
          </a:xfrm>
        </p:spPr>
        <p:txBody>
          <a:bodyPr>
            <a:normAutofit fontScale="90000"/>
          </a:bodyPr>
          <a:lstStyle/>
          <a:p>
            <a:r>
              <a:rPr lang="en-IN" sz="4000" b="1" dirty="0">
                <a:latin typeface="Times New Roman" panose="02020603050405020304" pitchFamily="18" charset="0"/>
                <a:cs typeface="Times New Roman" panose="02020603050405020304" pitchFamily="18" charset="0"/>
              </a:rPr>
              <a:t>Extraction of cell features </a:t>
            </a:r>
          </a:p>
        </p:txBody>
      </p:sp>
      <p:pic>
        <p:nvPicPr>
          <p:cNvPr id="5" name="Content Placeholder 4">
            <a:extLst>
              <a:ext uri="{FF2B5EF4-FFF2-40B4-BE49-F238E27FC236}">
                <a16:creationId xmlns:a16="http://schemas.microsoft.com/office/drawing/2014/main" id="{9021714C-EB3F-23E0-8918-D009D20181F7}"/>
              </a:ext>
            </a:extLst>
          </p:cNvPr>
          <p:cNvPicPr>
            <a:picLocks noGrp="1" noChangeAspect="1"/>
          </p:cNvPicPr>
          <p:nvPr>
            <p:ph idx="1"/>
          </p:nvPr>
        </p:nvPicPr>
        <p:blipFill>
          <a:blip r:embed="rId2"/>
          <a:stretch>
            <a:fillRect/>
          </a:stretch>
        </p:blipFill>
        <p:spPr>
          <a:xfrm>
            <a:off x="6096000" y="991490"/>
            <a:ext cx="4748105" cy="4877498"/>
          </a:xfrm>
          <a:prstGeom prst="rect">
            <a:avLst/>
          </a:prstGeom>
          <a:ln>
            <a:noFill/>
          </a:ln>
          <a:effectLst>
            <a:outerShdw blurRad="292100" dist="139700" dir="2700000" algn="tl" rotWithShape="0">
              <a:srgbClr val="333333">
                <a:alpha val="65000"/>
              </a:srgbClr>
            </a:outerShdw>
          </a:effectLst>
        </p:spPr>
      </p:pic>
      <p:sp>
        <p:nvSpPr>
          <p:cNvPr id="4" name="Text Placeholder 3">
            <a:extLst>
              <a:ext uri="{FF2B5EF4-FFF2-40B4-BE49-F238E27FC236}">
                <a16:creationId xmlns:a16="http://schemas.microsoft.com/office/drawing/2014/main" id="{FA6791DC-9668-918B-035A-C73DBB2081E7}"/>
              </a:ext>
            </a:extLst>
          </p:cNvPr>
          <p:cNvSpPr>
            <a:spLocks noGrp="1"/>
          </p:cNvSpPr>
          <p:nvPr>
            <p:ph type="body" sz="half" idx="2"/>
          </p:nvPr>
        </p:nvSpPr>
        <p:spPr>
          <a:xfrm>
            <a:off x="839788" y="2057400"/>
            <a:ext cx="4503999" cy="3811588"/>
          </a:xfrm>
        </p:spPr>
        <p:txBody>
          <a:bodyPr>
            <a:normAutofit/>
          </a:bodyPr>
          <a:lstStyle/>
          <a:p>
            <a:pPr marL="285750" indent="-285750" algn="just">
              <a:buFont typeface="Arial" panose="020B0604020202020204" pitchFamily="34" charset="0"/>
              <a:buChar char="•"/>
            </a:pPr>
            <a:r>
              <a:rPr lang="en-IN" sz="2000" dirty="0"/>
              <a:t>The holograms are numerically processed using ASP, diffraction integral.</a:t>
            </a:r>
          </a:p>
          <a:p>
            <a:pPr marL="285750" indent="-285750" algn="just">
              <a:buFont typeface="Arial" panose="020B0604020202020204" pitchFamily="34" charset="0"/>
              <a:buChar char="•"/>
            </a:pPr>
            <a:r>
              <a:rPr lang="en-IN" sz="2000" dirty="0"/>
              <a:t>The extracted phase provides the cell thickness information.</a:t>
            </a:r>
          </a:p>
          <a:p>
            <a:pPr marL="285750" indent="-285750" algn="just">
              <a:buFont typeface="Arial" panose="020B0604020202020204" pitchFamily="34" charset="0"/>
              <a:buChar char="•"/>
            </a:pPr>
            <a:r>
              <a:rPr lang="en-IN" sz="2000" dirty="0"/>
              <a:t>With the help of the thickness profile obtained as shown in the Fig (4.1)(d), we calculated the various physical parameters pertaining to the cells and also by using multiple frames and tracing, we calculated the mechanical parameters as well. </a:t>
            </a:r>
          </a:p>
          <a:p>
            <a:pPr marL="285750" indent="-285750" algn="just">
              <a:buFont typeface="Arial" panose="020B0604020202020204" pitchFamily="34" charset="0"/>
              <a:buChar char="•"/>
            </a:pPr>
            <a:endParaRPr lang="en-IN" sz="2000" dirty="0"/>
          </a:p>
          <a:p>
            <a:endParaRPr lang="en-IN" sz="2000" dirty="0"/>
          </a:p>
        </p:txBody>
      </p:sp>
    </p:spTree>
    <p:extLst>
      <p:ext uri="{BB962C8B-B14F-4D97-AF65-F5344CB8AC3E}">
        <p14:creationId xmlns:p14="http://schemas.microsoft.com/office/powerpoint/2010/main" val="795566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859E-C249-E075-2434-3E58ADFD0A71}"/>
              </a:ext>
            </a:extLst>
          </p:cNvPr>
          <p:cNvSpPr>
            <a:spLocks noGrp="1"/>
          </p:cNvSpPr>
          <p:nvPr>
            <p:ph type="title"/>
          </p:nvPr>
        </p:nvSpPr>
        <p:spPr/>
        <p:txBody>
          <a:bodyPr>
            <a:normAutofit/>
          </a:bodyPr>
          <a:lstStyle/>
          <a:p>
            <a:pPr algn="ctr"/>
            <a:r>
              <a:rPr lang="en-IN" sz="6000" b="1" dirty="0">
                <a:latin typeface="Times New Roman" panose="02020603050405020304" pitchFamily="18" charset="0"/>
                <a:cs typeface="Times New Roman" panose="02020603050405020304" pitchFamily="18" charset="0"/>
              </a:rPr>
              <a:t>Support Vector Machine</a:t>
            </a:r>
          </a:p>
        </p:txBody>
      </p:sp>
      <p:sp>
        <p:nvSpPr>
          <p:cNvPr id="3" name="Content Placeholder 2">
            <a:extLst>
              <a:ext uri="{FF2B5EF4-FFF2-40B4-BE49-F238E27FC236}">
                <a16:creationId xmlns:a16="http://schemas.microsoft.com/office/drawing/2014/main" id="{CA028B84-5AB2-76F2-E0C3-7582FA1BA196}"/>
              </a:ext>
            </a:extLst>
          </p:cNvPr>
          <p:cNvSpPr>
            <a:spLocks noGrp="1"/>
          </p:cNvSpPr>
          <p:nvPr>
            <p:ph sz="half" idx="1"/>
          </p:nvPr>
        </p:nvSpPr>
        <p:spPr/>
        <p:txBody>
          <a:bodyPr>
            <a:normAutofit/>
          </a:bodyPr>
          <a:lstStyle/>
          <a:p>
            <a:pPr algn="just"/>
            <a:r>
              <a:rPr lang="en-US" sz="2400" b="0" i="0" dirty="0">
                <a:effectLst/>
                <a:latin typeface="Times New Roman" panose="02020603050405020304" pitchFamily="18" charset="0"/>
                <a:cs typeface="Times New Roman" panose="02020603050405020304" pitchFamily="18" charset="0"/>
              </a:rPr>
              <a:t>SVM stands for Support Vector Machine and is one of the most widely used Supervised Learning algorithms for Classification and Regression issues. However, it is mostly </a:t>
            </a:r>
            <a:r>
              <a:rPr lang="en-US" sz="2400" b="0" i="0" dirty="0" err="1">
                <a:effectLst/>
                <a:latin typeface="Times New Roman" panose="02020603050405020304" pitchFamily="18" charset="0"/>
                <a:cs typeface="Times New Roman" panose="02020603050405020304" pitchFamily="18" charset="0"/>
              </a:rPr>
              <a:t>utilised</a:t>
            </a:r>
            <a:r>
              <a:rPr lang="en-US" sz="2400" b="0" i="0" dirty="0">
                <a:effectLst/>
                <a:latin typeface="Times New Roman" panose="02020603050405020304" pitchFamily="18" charset="0"/>
                <a:cs typeface="Times New Roman" panose="02020603050405020304" pitchFamily="18" charset="0"/>
              </a:rPr>
              <a:t> in Machine Learning for Classification </a:t>
            </a:r>
            <a:r>
              <a:rPr lang="en-US" sz="2400" dirty="0">
                <a:latin typeface="Times New Roman" panose="02020603050405020304" pitchFamily="18" charset="0"/>
                <a:cs typeface="Times New Roman" panose="02020603050405020304" pitchFamily="18" charset="0"/>
              </a:rPr>
              <a:t>problems</a:t>
            </a:r>
            <a:r>
              <a:rPr lang="en-US" sz="2400" b="0" i="0" dirty="0">
                <a:effectLst/>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FA25E39-195B-3DA7-F4C9-E3CC53F07F79}"/>
              </a:ext>
            </a:extLst>
          </p:cNvPr>
          <p:cNvPicPr>
            <a:picLocks noGrp="1" noChangeAspect="1"/>
          </p:cNvPicPr>
          <p:nvPr>
            <p:ph sz="half" idx="2"/>
          </p:nvPr>
        </p:nvPicPr>
        <p:blipFill>
          <a:blip r:embed="rId2"/>
          <a:stretch>
            <a:fillRect/>
          </a:stretch>
        </p:blipFill>
        <p:spPr>
          <a:xfrm>
            <a:off x="6566617" y="2078249"/>
            <a:ext cx="4963218" cy="3124636"/>
          </a:xfrm>
          <a:prstGeom prst="rect">
            <a:avLst/>
          </a:prstGeom>
          <a:ln>
            <a:noFill/>
          </a:ln>
          <a:effectLst>
            <a:softEdge rad="112500"/>
          </a:effectLst>
        </p:spPr>
      </p:pic>
    </p:spTree>
    <p:extLst>
      <p:ext uri="{BB962C8B-B14F-4D97-AF65-F5344CB8AC3E}">
        <p14:creationId xmlns:p14="http://schemas.microsoft.com/office/powerpoint/2010/main" val="121004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6811C-4AC4-A395-E457-DE729DD4FF23}"/>
              </a:ext>
            </a:extLst>
          </p:cNvPr>
          <p:cNvSpPr>
            <a:spLocks noGrp="1"/>
          </p:cNvSpPr>
          <p:nvPr>
            <p:ph type="title"/>
          </p:nvPr>
        </p:nvSpPr>
        <p:spPr/>
        <p:txBody>
          <a:bodyPr/>
          <a:lstStyle/>
          <a:p>
            <a:pPr algn="ctr"/>
            <a:r>
              <a:rPr lang="en-IN" sz="6000" b="1" dirty="0">
                <a:latin typeface="Times New Roman" panose="02020603050405020304" pitchFamily="18" charset="0"/>
                <a:cs typeface="Times New Roman" panose="02020603050405020304" pitchFamily="18" charset="0"/>
              </a:rPr>
              <a:t>How</a:t>
            </a:r>
            <a:r>
              <a:rPr lang="en-IN" b="1" dirty="0">
                <a:latin typeface="Times New Roman" panose="02020603050405020304" pitchFamily="18" charset="0"/>
                <a:cs typeface="Times New Roman" panose="02020603050405020304" pitchFamily="18" charset="0"/>
              </a:rPr>
              <a:t> </a:t>
            </a:r>
            <a:r>
              <a:rPr lang="en-IN" sz="6000" b="1" dirty="0">
                <a:latin typeface="Times New Roman" panose="02020603050405020304" pitchFamily="18" charset="0"/>
                <a:cs typeface="Times New Roman" panose="02020603050405020304" pitchFamily="18" charset="0"/>
              </a:rPr>
              <a:t>SVM works?</a:t>
            </a:r>
            <a:endParaRPr lang="en-IN" b="1" dirty="0">
              <a:latin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F26E9E9B-FED0-4FC5-7A4D-93133076FA54}"/>
              </a:ext>
            </a:extLst>
          </p:cNvPr>
          <p:cNvSpPr txBox="1">
            <a:spLocks/>
          </p:cNvSpPr>
          <p:nvPr/>
        </p:nvSpPr>
        <p:spPr>
          <a:xfrm>
            <a:off x="6172200" y="2062686"/>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The SVM algorithm's purpose is to find the optimum line or decision boundary for categorizing n-dimensional space into classes so that additional data points can be readily placed in the correct category in the future. A hyperplane is the name for the optimal choice boundary.</a:t>
            </a:r>
            <a:endParaRPr lang="en-IN" dirty="0">
              <a:latin typeface="Times New Roman" panose="02020603050405020304" pitchFamily="18" charset="0"/>
              <a:cs typeface="Times New Roman" panose="02020603050405020304" pitchFamily="18" charset="0"/>
            </a:endParaRPr>
          </a:p>
        </p:txBody>
      </p:sp>
      <p:pic>
        <p:nvPicPr>
          <p:cNvPr id="11" name="Content Placeholder 4">
            <a:extLst>
              <a:ext uri="{FF2B5EF4-FFF2-40B4-BE49-F238E27FC236}">
                <a16:creationId xmlns:a16="http://schemas.microsoft.com/office/drawing/2014/main" id="{35F3217D-1C9B-91DD-BED4-6D538AC5DD0B}"/>
              </a:ext>
            </a:extLst>
          </p:cNvPr>
          <p:cNvPicPr>
            <a:picLocks noGrp="1" noChangeAspect="1"/>
          </p:cNvPicPr>
          <p:nvPr>
            <p:ph sz="half" idx="1"/>
          </p:nvPr>
        </p:nvPicPr>
        <p:blipFill>
          <a:blip r:embed="rId2"/>
          <a:stretch>
            <a:fillRect/>
          </a:stretch>
        </p:blipFill>
        <p:spPr>
          <a:xfrm>
            <a:off x="1256997" y="2062686"/>
            <a:ext cx="4344006" cy="3877216"/>
          </a:xfrm>
          <a:prstGeom prst="rect">
            <a:avLst/>
          </a:prstGeom>
          <a:ln>
            <a:noFill/>
          </a:ln>
          <a:effectLst>
            <a:softEdge rad="112500"/>
          </a:effectLst>
        </p:spPr>
      </p:pic>
    </p:spTree>
    <p:extLst>
      <p:ext uri="{BB962C8B-B14F-4D97-AF65-F5344CB8AC3E}">
        <p14:creationId xmlns:p14="http://schemas.microsoft.com/office/powerpoint/2010/main" val="4284884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59E2A-66FD-8EB0-A9A9-A1CE36F0252C}"/>
              </a:ext>
            </a:extLst>
          </p:cNvPr>
          <p:cNvSpPr>
            <a:spLocks noGrp="1"/>
          </p:cNvSpPr>
          <p:nvPr>
            <p:ph type="title"/>
          </p:nvPr>
        </p:nvSpPr>
        <p:spPr>
          <a:xfrm>
            <a:off x="377505" y="1275127"/>
            <a:ext cx="4637801" cy="1963023"/>
          </a:xfrm>
        </p:spPr>
        <p:txBody>
          <a:bodyPr>
            <a:normAutofit fontScale="90000"/>
          </a:bodyPr>
          <a:lstStyle/>
          <a:p>
            <a:r>
              <a:rPr lang="en-IN" sz="4400" b="1" dirty="0">
                <a:latin typeface="Times New Roman" panose="02020603050405020304" pitchFamily="18" charset="0"/>
                <a:cs typeface="Times New Roman" panose="02020603050405020304" pitchFamily="18" charset="0"/>
              </a:rPr>
              <a:t>This is how we implemented SVM  for cell classification</a:t>
            </a:r>
          </a:p>
        </p:txBody>
      </p:sp>
      <p:pic>
        <p:nvPicPr>
          <p:cNvPr id="5" name="Content Placeholder 4">
            <a:extLst>
              <a:ext uri="{FF2B5EF4-FFF2-40B4-BE49-F238E27FC236}">
                <a16:creationId xmlns:a16="http://schemas.microsoft.com/office/drawing/2014/main" id="{B1AE4A1C-2B79-5740-79A5-EE73FEC5F800}"/>
              </a:ext>
            </a:extLst>
          </p:cNvPr>
          <p:cNvPicPr>
            <a:picLocks noGrp="1" noChangeAspect="1"/>
          </p:cNvPicPr>
          <p:nvPr>
            <p:ph idx="1"/>
          </p:nvPr>
        </p:nvPicPr>
        <p:blipFill>
          <a:blip r:embed="rId2"/>
          <a:stretch>
            <a:fillRect/>
          </a:stretch>
        </p:blipFill>
        <p:spPr>
          <a:xfrm>
            <a:off x="6490920" y="176169"/>
            <a:ext cx="4720231" cy="64679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69690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71CB4-91F9-19E0-6D4F-C5FB11E64668}"/>
              </a:ext>
            </a:extLst>
          </p:cNvPr>
          <p:cNvSpPr>
            <a:spLocks noGrp="1"/>
          </p:cNvSpPr>
          <p:nvPr>
            <p:ph type="title"/>
          </p:nvPr>
        </p:nvSpPr>
        <p:spPr/>
        <p:txBody>
          <a:bodyPr>
            <a:normAutofit/>
          </a:bodyPr>
          <a:lstStyle/>
          <a:p>
            <a:pPr algn="ctr"/>
            <a:r>
              <a:rPr lang="en-IN" sz="6000" b="1" dirty="0">
                <a:latin typeface="Times New Roman" panose="02020603050405020304" pitchFamily="18" charset="0"/>
                <a:cs typeface="Times New Roman" panose="02020603050405020304" pitchFamily="18" charset="0"/>
              </a:rPr>
              <a:t>Results-extracted cell </a:t>
            </a:r>
            <a:r>
              <a:rPr lang="en-IN" sz="6000" b="1" dirty="0" err="1">
                <a:latin typeface="Times New Roman" panose="02020603050405020304" pitchFamily="18" charset="0"/>
                <a:cs typeface="Times New Roman" panose="02020603050405020304" pitchFamily="18" charset="0"/>
              </a:rPr>
              <a:t>fratures</a:t>
            </a:r>
            <a:endParaRPr lang="en-IN" sz="6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6C50F0-556F-9BFC-9A9A-CF5A76DB562F}"/>
              </a:ext>
            </a:extLst>
          </p:cNvPr>
          <p:cNvSpPr>
            <a:spLocks noGrp="1"/>
          </p:cNvSpPr>
          <p:nvPr>
            <p:ph sz="half" idx="1"/>
          </p:nvPr>
        </p:nvSpPr>
        <p:spPr>
          <a:xfrm>
            <a:off x="6172200" y="1808849"/>
            <a:ext cx="5181600" cy="4351338"/>
          </a:xfrm>
        </p:spPr>
        <p:txBody>
          <a:bodyPr/>
          <a:lstStyle/>
          <a:p>
            <a:pPr algn="just"/>
            <a:r>
              <a:rPr lang="en-IN" dirty="0">
                <a:latin typeface="Times New Roman" panose="02020603050405020304" pitchFamily="18" charset="0"/>
                <a:cs typeface="Times New Roman" panose="02020603050405020304" pitchFamily="18" charset="0"/>
              </a:rPr>
              <a:t> We constructed the phase profile of the recorded holograms of cells and extracted physical and mechanical properties pertaining to each cell. </a:t>
            </a:r>
          </a:p>
        </p:txBody>
      </p:sp>
      <p:graphicFrame>
        <p:nvGraphicFramePr>
          <p:cNvPr id="6" name="Content Placeholder 5">
            <a:extLst>
              <a:ext uri="{FF2B5EF4-FFF2-40B4-BE49-F238E27FC236}">
                <a16:creationId xmlns:a16="http://schemas.microsoft.com/office/drawing/2014/main" id="{136C2F87-A523-4B78-07AC-8B1BF4993C9F}"/>
              </a:ext>
            </a:extLst>
          </p:cNvPr>
          <p:cNvGraphicFramePr>
            <a:graphicFrameLocks noGrp="1"/>
          </p:cNvGraphicFramePr>
          <p:nvPr>
            <p:ph sz="half" idx="2"/>
            <p:extLst>
              <p:ext uri="{D42A27DB-BD31-4B8C-83A1-F6EECF244321}">
                <p14:modId xmlns:p14="http://schemas.microsoft.com/office/powerpoint/2010/main" val="101919761"/>
              </p:ext>
            </p:extLst>
          </p:nvPr>
        </p:nvGraphicFramePr>
        <p:xfrm>
          <a:off x="1377194" y="1805674"/>
          <a:ext cx="4642607" cy="4351340"/>
        </p:xfrm>
        <a:graphic>
          <a:graphicData uri="http://schemas.openxmlformats.org/drawingml/2006/table">
            <a:tbl>
              <a:tblPr firstRow="1" firstCol="1" bandRow="1">
                <a:tableStyleId>{69012ECD-51FC-41F1-AA8D-1B2483CD663E}</a:tableStyleId>
              </a:tblPr>
              <a:tblGrid>
                <a:gridCol w="2327008">
                  <a:extLst>
                    <a:ext uri="{9D8B030D-6E8A-4147-A177-3AD203B41FA5}">
                      <a16:colId xmlns:a16="http://schemas.microsoft.com/office/drawing/2014/main" val="1811542620"/>
                    </a:ext>
                  </a:extLst>
                </a:gridCol>
                <a:gridCol w="2315599">
                  <a:extLst>
                    <a:ext uri="{9D8B030D-6E8A-4147-A177-3AD203B41FA5}">
                      <a16:colId xmlns:a16="http://schemas.microsoft.com/office/drawing/2014/main" val="1763962539"/>
                    </a:ext>
                  </a:extLst>
                </a:gridCol>
              </a:tblGrid>
              <a:tr h="446716">
                <a:tc>
                  <a:txBody>
                    <a:bodyPr/>
                    <a:lstStyle/>
                    <a:p>
                      <a:pPr algn="ctr">
                        <a:lnSpc>
                          <a:spcPts val="1300"/>
                        </a:lnSpc>
                      </a:pPr>
                      <a:r>
                        <a:rPr lang="en-US" sz="1000" dirty="0">
                          <a:effectLst/>
                        </a:rPr>
                        <a:t>Physical</a:t>
                      </a:r>
                      <a:endParaRPr lang="en-IN" sz="1000" dirty="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300"/>
                        </a:lnSpc>
                      </a:pPr>
                      <a:r>
                        <a:rPr lang="en-US" sz="1000">
                          <a:effectLst/>
                        </a:rPr>
                        <a:t>Mechanical</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654183398"/>
                  </a:ext>
                </a:extLst>
              </a:tr>
              <a:tr h="488078">
                <a:tc>
                  <a:txBody>
                    <a:bodyPr/>
                    <a:lstStyle/>
                    <a:p>
                      <a:pPr algn="ctr">
                        <a:lnSpc>
                          <a:spcPts val="1300"/>
                        </a:lnSpc>
                      </a:pPr>
                      <a:r>
                        <a:rPr lang="en-US" sz="1000">
                          <a:effectLst/>
                        </a:rPr>
                        <a:t>Diameter</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300"/>
                        </a:lnSpc>
                      </a:pPr>
                      <a:r>
                        <a:rPr lang="en-US" sz="1000">
                          <a:effectLst/>
                        </a:rPr>
                        <a:t>Optical Path Length</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679883269"/>
                  </a:ext>
                </a:extLst>
              </a:tr>
              <a:tr h="488078">
                <a:tc>
                  <a:txBody>
                    <a:bodyPr/>
                    <a:lstStyle/>
                    <a:p>
                      <a:pPr algn="ctr">
                        <a:lnSpc>
                          <a:spcPts val="1300"/>
                        </a:lnSpc>
                      </a:pPr>
                      <a:r>
                        <a:rPr lang="en-US" sz="1000" dirty="0">
                          <a:effectLst/>
                        </a:rPr>
                        <a:t>Thickness</a:t>
                      </a:r>
                      <a:endParaRPr lang="en-IN" sz="1000" dirty="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300"/>
                        </a:lnSpc>
                      </a:pPr>
                      <a:r>
                        <a:rPr lang="en-US" sz="1000">
                          <a:effectLst/>
                        </a:rPr>
                        <a:t>Volume change</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905401674"/>
                  </a:ext>
                </a:extLst>
              </a:tr>
              <a:tr h="488078">
                <a:tc>
                  <a:txBody>
                    <a:bodyPr/>
                    <a:lstStyle/>
                    <a:p>
                      <a:pPr algn="ctr">
                        <a:lnSpc>
                          <a:spcPts val="1300"/>
                        </a:lnSpc>
                      </a:pPr>
                      <a:r>
                        <a:rPr lang="en-US" sz="1000">
                          <a:effectLst/>
                        </a:rPr>
                        <a:t>Area</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300"/>
                        </a:lnSpc>
                      </a:pPr>
                      <a:r>
                        <a:rPr lang="en-US" sz="1000">
                          <a:effectLst/>
                        </a:rPr>
                        <a:t>Frequency fluctuations</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212954927"/>
                  </a:ext>
                </a:extLst>
              </a:tr>
              <a:tr h="488078">
                <a:tc>
                  <a:txBody>
                    <a:bodyPr/>
                    <a:lstStyle/>
                    <a:p>
                      <a:pPr algn="ctr">
                        <a:lnSpc>
                          <a:spcPts val="1300"/>
                        </a:lnSpc>
                      </a:pPr>
                      <a:r>
                        <a:rPr lang="en-US" sz="1000">
                          <a:effectLst/>
                        </a:rPr>
                        <a:t>Volume</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300"/>
                        </a:lnSpc>
                      </a:pPr>
                      <a:r>
                        <a:rPr lang="en-US" sz="1000">
                          <a:effectLst/>
                        </a:rPr>
                        <a:t>Lateral oscillations</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152855298"/>
                  </a:ext>
                </a:extLst>
              </a:tr>
              <a:tr h="488078">
                <a:tc>
                  <a:txBody>
                    <a:bodyPr/>
                    <a:lstStyle/>
                    <a:p>
                      <a:pPr algn="ctr">
                        <a:lnSpc>
                          <a:spcPts val="1300"/>
                        </a:lnSpc>
                      </a:pPr>
                      <a:r>
                        <a:rPr lang="en-US" sz="1000">
                          <a:effectLst/>
                        </a:rPr>
                        <a:t>Eccentricity</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300"/>
                        </a:lnSpc>
                      </a:pPr>
                      <a:r>
                        <a:rPr lang="en-US" sz="1000" dirty="0">
                          <a:effectLst/>
                        </a:rPr>
                        <a:t>Membrane stiffness</a:t>
                      </a:r>
                      <a:endParaRPr lang="en-IN" sz="1000" dirty="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281988944"/>
                  </a:ext>
                </a:extLst>
              </a:tr>
              <a:tr h="488078">
                <a:tc>
                  <a:txBody>
                    <a:bodyPr/>
                    <a:lstStyle/>
                    <a:p>
                      <a:pPr algn="ctr">
                        <a:lnSpc>
                          <a:spcPts val="1300"/>
                        </a:lnSpc>
                      </a:pPr>
                      <a:r>
                        <a:rPr lang="en-US" sz="1000">
                          <a:effectLst/>
                        </a:rPr>
                        <a:t>Sphericity</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300"/>
                        </a:lnSpc>
                      </a:pPr>
                      <a:r>
                        <a:rPr lang="en-US" sz="1000">
                          <a:effectLst/>
                        </a:rPr>
                        <a:t>Dynamic light scattering</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656395657"/>
                  </a:ext>
                </a:extLst>
              </a:tr>
              <a:tr h="488078">
                <a:tc>
                  <a:txBody>
                    <a:bodyPr/>
                    <a:lstStyle/>
                    <a:p>
                      <a:pPr algn="ctr">
                        <a:lnSpc>
                          <a:spcPts val="1300"/>
                        </a:lnSpc>
                      </a:pPr>
                      <a:r>
                        <a:rPr lang="en-US" sz="1000">
                          <a:effectLst/>
                        </a:rPr>
                        <a:t>Skewness</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300"/>
                        </a:lnSpc>
                      </a:pPr>
                      <a:r>
                        <a:rPr lang="en-US" sz="1000" baseline="30000">
                          <a:effectLst/>
                        </a:rPr>
                        <a:t> </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19136986"/>
                  </a:ext>
                </a:extLst>
              </a:tr>
              <a:tr h="488078">
                <a:tc>
                  <a:txBody>
                    <a:bodyPr/>
                    <a:lstStyle/>
                    <a:p>
                      <a:pPr algn="ctr">
                        <a:lnSpc>
                          <a:spcPts val="1300"/>
                        </a:lnSpc>
                      </a:pPr>
                      <a:r>
                        <a:rPr lang="en-US" sz="1000">
                          <a:effectLst/>
                        </a:rPr>
                        <a:t>Kurtosis</a:t>
                      </a:r>
                      <a:endParaRPr lang="en-IN" sz="100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300"/>
                        </a:lnSpc>
                      </a:pPr>
                      <a:r>
                        <a:rPr lang="en-US" sz="1000" baseline="30000" dirty="0">
                          <a:effectLst/>
                        </a:rPr>
                        <a:t> </a:t>
                      </a:r>
                      <a:endParaRPr lang="en-IN" sz="1000" dirty="0">
                        <a:solidFill>
                          <a:srgbClr val="000000"/>
                        </a:solidFill>
                        <a:effectLst/>
                        <a:latin typeface="Palatino Linotype" panose="0204050205050503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551106660"/>
                  </a:ext>
                </a:extLst>
              </a:tr>
            </a:tbl>
          </a:graphicData>
        </a:graphic>
      </p:graphicFrame>
    </p:spTree>
    <p:extLst>
      <p:ext uri="{BB962C8B-B14F-4D97-AF65-F5344CB8AC3E}">
        <p14:creationId xmlns:p14="http://schemas.microsoft.com/office/powerpoint/2010/main" val="112162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BDEA8-89B3-0084-CCEE-329E60891698}"/>
              </a:ext>
            </a:extLst>
          </p:cNvPr>
          <p:cNvSpPr>
            <a:spLocks noGrp="1"/>
          </p:cNvSpPr>
          <p:nvPr>
            <p:ph type="title"/>
          </p:nvPr>
        </p:nvSpPr>
        <p:spPr/>
        <p:txBody>
          <a:bodyPr>
            <a:normAutofit/>
          </a:bodyPr>
          <a:lstStyle/>
          <a:p>
            <a:pPr algn="ctr"/>
            <a:r>
              <a:rPr lang="en-IN" sz="6000" b="1" dirty="0"/>
              <a:t>Results – ROC curve</a:t>
            </a:r>
          </a:p>
        </p:txBody>
      </p:sp>
      <p:sp>
        <p:nvSpPr>
          <p:cNvPr id="4" name="Content Placeholder 3">
            <a:extLst>
              <a:ext uri="{FF2B5EF4-FFF2-40B4-BE49-F238E27FC236}">
                <a16:creationId xmlns:a16="http://schemas.microsoft.com/office/drawing/2014/main" id="{D252B5A8-EBE8-104D-4FC2-BB60A6033A45}"/>
              </a:ext>
            </a:extLst>
          </p:cNvPr>
          <p:cNvSpPr>
            <a:spLocks noGrp="1"/>
          </p:cNvSpPr>
          <p:nvPr>
            <p:ph sz="half" idx="1"/>
          </p:nvPr>
        </p:nvSpPr>
        <p:spPr/>
        <p:txBody>
          <a:bodyPr/>
          <a:lstStyle/>
          <a:p>
            <a:r>
              <a:rPr lang="en-IN" dirty="0"/>
              <a:t>This curve shows the optimum threshold for the proper classification of cells.  </a:t>
            </a:r>
          </a:p>
          <a:p>
            <a:r>
              <a:rPr lang="en-IN" dirty="0"/>
              <a:t>The operating point for the SVM model to operate lies on this curve.</a:t>
            </a:r>
          </a:p>
        </p:txBody>
      </p:sp>
      <p:pic>
        <p:nvPicPr>
          <p:cNvPr id="7" name="Content Placeholder 6">
            <a:extLst>
              <a:ext uri="{FF2B5EF4-FFF2-40B4-BE49-F238E27FC236}">
                <a16:creationId xmlns:a16="http://schemas.microsoft.com/office/drawing/2014/main" id="{5D87CC72-5F58-40F2-0677-AB7E3CCF8E33}"/>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14641" t="7405" r="15521"/>
          <a:stretch/>
        </p:blipFill>
        <p:spPr>
          <a:xfrm>
            <a:off x="6669248" y="1833759"/>
            <a:ext cx="4379053" cy="4354460"/>
          </a:xfrm>
        </p:spPr>
      </p:pic>
    </p:spTree>
    <p:extLst>
      <p:ext uri="{BB962C8B-B14F-4D97-AF65-F5344CB8AC3E}">
        <p14:creationId xmlns:p14="http://schemas.microsoft.com/office/powerpoint/2010/main" val="820918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A291D-B7B9-8749-5626-A5E098291475}"/>
              </a:ext>
            </a:extLst>
          </p:cNvPr>
          <p:cNvSpPr>
            <a:spLocks noGrp="1"/>
          </p:cNvSpPr>
          <p:nvPr>
            <p:ph type="title"/>
          </p:nvPr>
        </p:nvSpPr>
        <p:spPr/>
        <p:txBody>
          <a:bodyPr>
            <a:normAutofit fontScale="90000"/>
          </a:bodyPr>
          <a:lstStyle/>
          <a:p>
            <a:pPr algn="ctr"/>
            <a:r>
              <a:rPr lang="en-IN" sz="6000" b="1" dirty="0">
                <a:latin typeface="Times New Roman" panose="02020603050405020304" pitchFamily="18" charset="0"/>
                <a:cs typeface="Times New Roman" panose="02020603050405020304" pitchFamily="18" charset="0"/>
              </a:rPr>
              <a:t>Results – classification accuracy</a:t>
            </a:r>
            <a:endParaRPr lang="en-IN" sz="6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4AEC7E-0E1B-51C2-3A80-3070BC56179C}"/>
              </a:ext>
            </a:extLst>
          </p:cNvPr>
          <p:cNvSpPr>
            <a:spLocks noGrp="1"/>
          </p:cNvSpPr>
          <p:nvPr>
            <p:ph sz="half" idx="1"/>
          </p:nvPr>
        </p:nvSpPr>
        <p:spPr/>
        <p:txBody>
          <a:bodyPr>
            <a:normAutofit/>
          </a:bodyPr>
          <a:lstStyle/>
          <a:p>
            <a:pPr algn="just">
              <a:lnSpc>
                <a:spcPct val="107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With the help of SVM algorithm and its generated model, we got the result of the classification of the cells in the form of confusion matrix. The confusion matrix as shown in the above figure is a matrix generated after the classification of the test data was carried out and was cross-checked with the labels. The elements of matrix provide the percentages of true positive rate and the false negative rate.</a:t>
            </a:r>
          </a:p>
          <a:p>
            <a:pPr algn="just">
              <a:lnSpc>
                <a:spcPct val="107000"/>
              </a:lnSpc>
              <a:spcAft>
                <a:spcPts val="800"/>
              </a:spcAft>
            </a:pPr>
            <a:r>
              <a:rPr lang="en-IN" sz="1800" dirty="0">
                <a:latin typeface="Times New Roman" panose="02020603050405020304" pitchFamily="18" charset="0"/>
                <a:ea typeface="Calibri" panose="020F0502020204030204" pitchFamily="34" charset="0"/>
                <a:cs typeface="Times New Roman" panose="02020603050405020304" pitchFamily="18" charset="0"/>
              </a:rPr>
              <a:t>The overall accuracy calculated for the classification of the cells was found to be 77%.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953A8D23-F2BC-07E1-E784-0F01C1CB3AB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1825625"/>
            <a:ext cx="5330864" cy="4351337"/>
          </a:xfrm>
          <a:prstGeom prst="rect">
            <a:avLst/>
          </a:prstGeom>
          <a:ln>
            <a:noFill/>
          </a:ln>
          <a:effectLst>
            <a:outerShdw blurRad="292100" dist="139700" dir="2700000" algn="tl" rotWithShape="0">
              <a:srgbClr val="333333">
                <a:alpha val="65000"/>
              </a:srgbClr>
            </a:outerShdw>
          </a:effectLst>
        </p:spPr>
      </p:pic>
      <p:sp>
        <p:nvSpPr>
          <p:cNvPr id="4" name="Rectangle 3">
            <a:extLst>
              <a:ext uri="{FF2B5EF4-FFF2-40B4-BE49-F238E27FC236}">
                <a16:creationId xmlns:a16="http://schemas.microsoft.com/office/drawing/2014/main" id="{6918BE72-DDE0-8A54-40C5-93CB787D7657}"/>
              </a:ext>
            </a:extLst>
          </p:cNvPr>
          <p:cNvSpPr/>
          <p:nvPr/>
        </p:nvSpPr>
        <p:spPr>
          <a:xfrm>
            <a:off x="8159750" y="1936750"/>
            <a:ext cx="1416050" cy="190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33798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39B8-B601-70CE-0C9A-C25F694FE768}"/>
              </a:ext>
            </a:extLst>
          </p:cNvPr>
          <p:cNvSpPr>
            <a:spLocks noGrp="1"/>
          </p:cNvSpPr>
          <p:nvPr>
            <p:ph type="title"/>
          </p:nvPr>
        </p:nvSpPr>
        <p:spPr/>
        <p:txBody>
          <a:bodyPr>
            <a:normAutofit/>
          </a:bodyPr>
          <a:lstStyle/>
          <a:p>
            <a:pPr algn="ctr"/>
            <a:r>
              <a:rPr lang="en-IN" sz="54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6B64DEF6-559F-CE6C-C5E8-8E6CC57B5273}"/>
              </a:ext>
            </a:extLst>
          </p:cNvPr>
          <p:cNvSpPr>
            <a:spLocks noGrp="1"/>
          </p:cNvSpPr>
          <p:nvPr>
            <p:ph sz="half" idx="1"/>
          </p:nvPr>
        </p:nvSpPr>
        <p:spPr>
          <a:xfrm>
            <a:off x="838199" y="1825625"/>
            <a:ext cx="10310769" cy="4351338"/>
          </a:xfrm>
        </p:spPr>
        <p:txBody>
          <a:bodyPr/>
          <a:lstStyle/>
          <a:p>
            <a:pPr algn="just"/>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 this study, we did stain-free imaging of healthy and diseased red blood cells using Lateral Shearing Interferometer. Bio-physical and bio-mechanical parameters were extracted for all the cells. SVM classified the cells into healthy, sickle-cell diseased and Thalassemia cells by an accuracy of 77 %. Since all the RBCs are not affected with sickle-cell disease or thalassemia, making group of cells from each disease and then feeding to the algorithm can improve the classification accuracy. Also other algorithms like neural network can be used to classify the cells with better accuracy.</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6185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F07B7-CE08-D987-4ACE-1D03CCDB2B01}"/>
              </a:ext>
            </a:extLst>
          </p:cNvPr>
          <p:cNvSpPr>
            <a:spLocks noGrp="1"/>
          </p:cNvSpPr>
          <p:nvPr>
            <p:ph type="title"/>
          </p:nvPr>
        </p:nvSpPr>
        <p:spPr>
          <a:xfrm>
            <a:off x="838200" y="2766218"/>
            <a:ext cx="10515600" cy="1325563"/>
          </a:xfrm>
        </p:spPr>
        <p:txBody>
          <a:bodyPr/>
          <a:lstStyle/>
          <a:p>
            <a:pPr algn="ctr"/>
            <a:r>
              <a:rPr lang="en-IN" b="1" i="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200319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255</TotalTime>
  <Words>1062</Words>
  <Application>Microsoft Office PowerPoint</Application>
  <PresentationFormat>Widescreen</PresentationFormat>
  <Paragraphs>66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Palatino Linotype</vt:lpstr>
      <vt:lpstr>Times New Roman</vt:lpstr>
      <vt:lpstr>Office Theme</vt:lpstr>
      <vt:lpstr>Cell Imaging Using Lateral Shearing Interferometer leading to cell characterisation</vt:lpstr>
      <vt:lpstr>HOLOGRAPHY</vt:lpstr>
      <vt:lpstr>Why did we use holography?</vt:lpstr>
      <vt:lpstr>Lateral Shearing Interferometer (LSI)</vt:lpstr>
      <vt:lpstr>Experimental Setup</vt:lpstr>
      <vt:lpstr>Extraction of cell features </vt:lpstr>
      <vt:lpstr>Support Vector Machine</vt:lpstr>
      <vt:lpstr>How SVM works?</vt:lpstr>
      <vt:lpstr>This is how we implemented SVM  for cell classification</vt:lpstr>
      <vt:lpstr>Results-extracted cell fratures</vt:lpstr>
      <vt:lpstr>Results – ROC curve</vt:lpstr>
      <vt:lpstr>Results – classification accuracy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Imaging Using Lateral Shearing Interferometer leading to cell characterisation</dc:title>
  <dc:creator>daksh patel</dc:creator>
  <cp:lastModifiedBy>daksh patel</cp:lastModifiedBy>
  <cp:revision>10</cp:revision>
  <dcterms:created xsi:type="dcterms:W3CDTF">2022-05-14T07:04:10Z</dcterms:created>
  <dcterms:modified xsi:type="dcterms:W3CDTF">2022-05-15T07:54:46Z</dcterms:modified>
</cp:coreProperties>
</file>